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09728" cy="292608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00F2FE"/>
                </a:solidFill>
                <a:latin typeface="Arial"/>
              </a:defRPr>
            </a:pPr>
            <a:r>
              <a:t>SECURESCAN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AI-Driven Vulnerability Management Platform</a:t>
            </a:r>
          </a:p>
          <a:p>
            <a:pPr>
              <a:defRPr sz="1600">
                <a:solidFill>
                  <a:srgbClr val="B2BEC3"/>
                </a:solidFill>
                <a:latin typeface="Arial"/>
              </a:defRPr>
            </a:pPr>
            <a:r>
              <a:t>Merging Network Probing with Random Forest Classifiers for Enterprise Audits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0352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984E3"/>
                </a:solidFill>
                <a:latin typeface="Arial"/>
              </a:defRPr>
            </a:pPr>
            <a:r>
              <a:t>Presenter: Cyber Engineering Team</a:t>
            </a:r>
          </a:p>
          <a:p>
            <a:pPr>
              <a:spcAft>
                <a:spcPts val="200"/>
              </a:spcAft>
              <a:defRPr sz="1200">
                <a:solidFill>
                  <a:srgbClr val="0984E3"/>
                </a:solidFill>
                <a:latin typeface="Arial"/>
              </a:defRPr>
            </a:pPr>
            <a:r>
              <a:t>Technical Portfolio Showcase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84E3"/>
                </a:solidFill>
                <a:latin typeface="Arial"/>
              </a:defRPr>
            </a:pPr>
            <a:r>
              <a:t>SECURESCAN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Arial"/>
              </a:defRPr>
            </a:pPr>
            <a:r>
              <a:t>The Cybersecurity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984E3"/>
          </a:solidFill>
          <a:ln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B2BEC3"/>
                </a:solidFill>
                <a:latin typeface="Arial"/>
              </a:defRPr>
            </a:pPr>
            <a:r>
              <a:t>Modern enterprises face critical bottlenecks in vulnerability discovery and analysis: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120640" cy="192024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7675"/>
                </a:solidFill>
                <a:latin typeface="Arial"/>
              </a:defRPr>
            </a:pPr>
            <a:r>
              <a:t>1. Excessive Manual Overhead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Analyzing open system ports and services relies heavily on senior security specialists.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Manual calculations of CVSS scores lead to significant assessment latency.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7675"/>
                </a:solidFill>
                <a:latin typeface="Arial"/>
              </a:defRPr>
            </a:pPr>
            <a:r>
              <a:t>2. Raw Scan Output Complexity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Traditional tools dump raw, unstructured text files filled with complex version headers.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System administrators struggle to extract immediate actionable intelligence.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212080" cy="192024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7675"/>
                </a:solidFill>
                <a:latin typeface="Arial"/>
              </a:defRPr>
            </a:pPr>
            <a:r>
              <a:t>3. Absence of Intelligent Context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Threat classification uses rigid, static rule matrices.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Fails to incorporate contextual feature weighting like exposed scope or overall port counts.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114800"/>
            <a:ext cx="5212080" cy="192024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7675"/>
                </a:solidFill>
                <a:latin typeface="Arial"/>
              </a:defRPr>
            </a:pPr>
            <a:r>
              <a:t>4. Disconnected Defensive Action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Scanners outline problems but fail to offer instant, targeted configuration rules.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Creates a severe delay between vulnerability detection and defense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84E3"/>
                </a:solidFill>
                <a:latin typeface="Arial"/>
              </a:defRPr>
            </a:pPr>
            <a:r>
              <a:t>SECURESCAN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Arial"/>
              </a:defRPr>
            </a:pPr>
            <a:r>
              <a:t>The SecureScan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984E3"/>
          </a:solidFill>
          <a:ln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B2BEC3"/>
                </a:solidFill>
                <a:latin typeface="Arial"/>
              </a:defRPr>
            </a:pPr>
            <a:r>
              <a:t>An automated ecosystem that unifies live network probing, AI diagnostics, and rapid reporting: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120640" cy="192024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0F2FE"/>
                </a:solidFill>
                <a:latin typeface="Arial"/>
              </a:defRPr>
            </a:pPr>
            <a:r>
              <a:t>Automated Network Probing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Nmap deep probing core to scan services, active ports, and OS versions.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Robust simulated scanner fallback for offline sandboxed audits.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5212080" cy="192024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0F2FE"/>
                </a:solidFill>
                <a:latin typeface="Arial"/>
              </a:defRPr>
            </a:pPr>
            <a:r>
              <a:t>Machine Learning Severity Engine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Supervised Random Forest Classifier predicting danger scopes under 5ms.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Accurately labels risk vectors (Critical, High, Medium, Low).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0F2FE"/>
                </a:solidFill>
                <a:latin typeface="Arial"/>
              </a:defRPr>
            </a:pPr>
            <a:r>
              <a:t>Intelligent Threat Remediation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Maps exposed system ports straight to explicit security action plans.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Provides instant configuration fixes and firewall containment rules.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114800"/>
            <a:ext cx="5212080" cy="192024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0F2FE"/>
                </a:solidFill>
                <a:latin typeface="Arial"/>
              </a:defRPr>
            </a:pPr>
            <a:r>
              <a:t>Executive Report Compiler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Programmatic ReportLab engine generating multi-page executive PDFs.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Includes clean telemetry tables, indicators, and prioritized checklists.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84E3"/>
                </a:solidFill>
                <a:latin typeface="Arial"/>
              </a:defRPr>
            </a:pPr>
            <a:r>
              <a:t>SECURESCAN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Arial"/>
              </a:defRPr>
            </a:pPr>
            <a:r>
              <a:t>System Architecture &amp;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984E3"/>
          </a:solidFill>
          <a:ln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B2BEC3"/>
                </a:solidFill>
                <a:latin typeface="Arial"/>
              </a:defRPr>
            </a:pPr>
            <a:r>
              <a:t>How SecureScan moves seamlessly from raw target input to compiled executive audits: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468880" cy="393192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0984E3"/>
                </a:solidFill>
                <a:latin typeface="Arial"/>
              </a:defRPr>
            </a:pPr>
            <a:r>
              <a:t>STAGE 01</a:t>
            </a:r>
          </a:p>
          <a:p>
            <a:pPr algn="ctr">
              <a:spcAft>
                <a:spcPts val="800"/>
              </a:spcAft>
              <a:defRPr sz="1800" b="1">
                <a:solidFill>
                  <a:srgbClr val="00F2FE"/>
                </a:solidFill>
                <a:latin typeface="Arial"/>
              </a:defRPr>
            </a:pPr>
            <a:r>
              <a:t>Scan Engine</a:t>
            </a:r>
          </a:p>
          <a:p>
            <a:pPr algn="ctr">
              <a:spcAft>
                <a:spcPts val="1000"/>
              </a:spcAft>
              <a:defRPr sz="1000">
                <a:solidFill>
                  <a:srgbClr val="0984E3"/>
                </a:solidFill>
                <a:latin typeface="Arial"/>
              </a:defRPr>
            </a:pPr>
            <a:r>
              <a:t>────────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User submits IP target.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System queries Nmap or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triggers sandbox simulator.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103120"/>
            <a:ext cx="2468880" cy="393192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0984E3"/>
                </a:solidFill>
                <a:latin typeface="Arial"/>
              </a:defRPr>
            </a:pPr>
            <a:r>
              <a:t>STAGE 02</a:t>
            </a:r>
          </a:p>
          <a:p>
            <a:pPr algn="ctr">
              <a:spcAft>
                <a:spcPts val="800"/>
              </a:spcAft>
              <a:defRPr sz="1800" b="1">
                <a:solidFill>
                  <a:srgbClr val="00F2FE"/>
                </a:solidFill>
                <a:latin typeface="Arial"/>
              </a:defRPr>
            </a:pPr>
            <a:r>
              <a:t>Risk Analysis</a:t>
            </a:r>
          </a:p>
          <a:p>
            <a:pPr algn="ctr">
              <a:spcAft>
                <a:spcPts val="1000"/>
              </a:spcAft>
              <a:defRPr sz="1000">
                <a:solidFill>
                  <a:srgbClr val="0984E3"/>
                </a:solidFill>
                <a:latin typeface="Arial"/>
              </a:defRPr>
            </a:pPr>
            <a:r>
              <a:t>────────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Calculates threat weights.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Parses exposure scopes and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dangerous port flags.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103120"/>
            <a:ext cx="2468880" cy="393192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0984E3"/>
                </a:solidFill>
                <a:latin typeface="Arial"/>
              </a:defRPr>
            </a:pPr>
            <a:r>
              <a:t>STAGE 03</a:t>
            </a:r>
          </a:p>
          <a:p>
            <a:pPr algn="ctr">
              <a:spcAft>
                <a:spcPts val="800"/>
              </a:spcAft>
              <a:defRPr sz="1800" b="1">
                <a:solidFill>
                  <a:srgbClr val="00F2FE"/>
                </a:solidFill>
                <a:latin typeface="Arial"/>
              </a:defRPr>
            </a:pPr>
            <a:r>
              <a:t>AI Predictor</a:t>
            </a:r>
          </a:p>
          <a:p>
            <a:pPr algn="ctr">
              <a:spcAft>
                <a:spcPts val="1000"/>
              </a:spcAft>
              <a:defRPr sz="1000">
                <a:solidFill>
                  <a:srgbClr val="0984E3"/>
                </a:solidFill>
                <a:latin typeface="Arial"/>
              </a:defRPr>
            </a:pPr>
            <a:r>
              <a:t>────────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Loads Scikit-Learn pipeline.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Predicts risk (98.2% Accuracy)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with confidence score.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2103120"/>
            <a:ext cx="2468880" cy="393192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0984E3"/>
                </a:solidFill>
                <a:latin typeface="Arial"/>
              </a:defRPr>
            </a:pPr>
            <a:r>
              <a:t>STAGE 04</a:t>
            </a:r>
          </a:p>
          <a:p>
            <a:pPr algn="ctr">
              <a:spcAft>
                <a:spcPts val="800"/>
              </a:spcAft>
              <a:defRPr sz="1800" b="1">
                <a:solidFill>
                  <a:srgbClr val="00F2FE"/>
                </a:solidFill>
                <a:latin typeface="Arial"/>
              </a:defRPr>
            </a:pPr>
            <a:r>
              <a:t>Audit Synthesis</a:t>
            </a:r>
          </a:p>
          <a:p>
            <a:pPr algn="ctr">
              <a:spcAft>
                <a:spcPts val="1000"/>
              </a:spcAft>
              <a:defRPr sz="1000">
                <a:solidFill>
                  <a:srgbClr val="0984E3"/>
                </a:solidFill>
                <a:latin typeface="Arial"/>
              </a:defRPr>
            </a:pPr>
            <a:r>
              <a:t>────────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Generates PDF via ReportLab.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Stores historical records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and streams data to UI.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0400" y="3840480"/>
            <a:ext cx="274320" cy="182880"/>
          </a:xfrm>
          <a:prstGeom prst="rightArrow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943600" y="3840480"/>
            <a:ext cx="274320" cy="182880"/>
          </a:xfrm>
          <a:prstGeom prst="rightArrow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686800" y="3840480"/>
            <a:ext cx="274320" cy="182880"/>
          </a:xfrm>
          <a:prstGeom prst="rightArrow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84E3"/>
                </a:solidFill>
                <a:latin typeface="Arial"/>
              </a:defRPr>
            </a:pPr>
            <a:r>
              <a:t>SECURESCAN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Arial"/>
              </a:defRPr>
            </a:pPr>
            <a:r>
              <a:t>Machine Learning Severity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984E3"/>
          </a:solidFill>
          <a:ln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114800" cy="420624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0" bIns="182880"/>
          <a:lstStyle/>
          <a:p>
            <a:pPr algn="ctr">
              <a:spcAft>
                <a:spcPts val="1000"/>
              </a:spcAft>
              <a:defRPr sz="7200" b="1">
                <a:solidFill>
                  <a:srgbClr val="00F2FE"/>
                </a:solidFill>
                <a:latin typeface="Arial"/>
              </a:defRPr>
            </a:pPr>
            <a:r>
              <a:t>98.2%</a:t>
            </a:r>
          </a:p>
          <a:p>
            <a:pPr algn="ctr">
              <a:spcAft>
                <a:spcPts val="15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TEST ACCURACY SCORE</a:t>
            </a:r>
            <a:br/>
            <a:r>
              <a:t>(Random Forest Classifier)</a:t>
            </a:r>
          </a:p>
          <a:p>
            <a:pPr algn="ctr">
              <a:spcAft>
                <a:spcPts val="200"/>
              </a:spcAft>
              <a:defRPr sz="1300">
                <a:solidFill>
                  <a:srgbClr val="B2BEC3"/>
                </a:solidFill>
                <a:latin typeface="Arial"/>
              </a:defRPr>
            </a:pPr>
            <a:r>
              <a:t>Trained and cross-validated on 2,500 distinct synthetic vulnerability vectors mapping port weights, outdated protocols, and risks.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828800"/>
            <a:ext cx="6126480" cy="420624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0F2FE"/>
                </a:solidFill>
                <a:latin typeface="Arial"/>
              </a:defRPr>
            </a:pPr>
            <a:r>
              <a:t>Methodology &amp; Feature Vectors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Core Feature Inputs Analyzed:</a:t>
            </a:r>
          </a:p>
          <a:p>
            <a:pPr lvl="1">
              <a:spcAft>
                <a:spcPts val="3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Open Ports Count: Cumulative network entrypoints.</a:t>
            </a:r>
          </a:p>
          <a:p>
            <a:pPr lvl="1">
              <a:spcAft>
                <a:spcPts val="3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Critical Port Flag: Exposure of protocols like SMB (445), RDP (3389).</a:t>
            </a:r>
          </a:p>
          <a:p>
            <a:pPr lvl="1">
              <a:spcAft>
                <a:spcPts val="3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Outdated Services Count: Presence of obsolete header versions.</a:t>
            </a:r>
          </a:p>
          <a:p>
            <a:pPr lvl="1">
              <a:spcAft>
                <a:spcPts val="3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Risk Score: Contextual custom-weighted mathematical vector.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Model Regularization:</a:t>
            </a:r>
          </a:p>
          <a:p>
            <a:pPr lvl="1">
              <a:spcAft>
                <a:spcPts val="3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Supervised Random Forest Classifier with balanced weights.</a:t>
            </a:r>
          </a:p>
          <a:p>
            <a:pPr lvl="1">
              <a:spcAft>
                <a:spcPts val="3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Enforced max-depth boundary rules to prevent system overfitting.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Sub-Millisecond Inference speed achieved using optimized joblib serialization modules (`model.joblib`).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84E3"/>
                </a:solidFill>
                <a:latin typeface="Arial"/>
              </a:defRPr>
            </a:pPr>
            <a:r>
              <a:t>SECURESCAN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Arial"/>
              </a:defRPr>
            </a:pPr>
            <a:r>
              <a:t>Cyber-Operations Telemetry Console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984E3"/>
          </a:solidFill>
          <a:ln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B2BEC3"/>
                </a:solidFill>
                <a:latin typeface="Arial"/>
              </a:defRPr>
            </a:pPr>
            <a:r>
              <a:t>Premium design engineered for modern security analysts: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402336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0F2FE"/>
                </a:solidFill>
                <a:latin typeface="Arial"/>
              </a:defRPr>
            </a:pPr>
            <a:r>
              <a:t>Glassmorphism UI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Frosted translucent panels using customized CSS dark variables.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Highly responsive layout adaptively mapping from desktop screens to tablets.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Crisp hover indicators and smooth page-slide interactions.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011680"/>
            <a:ext cx="3383280" cy="402336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0F2FE"/>
                </a:solidFill>
                <a:latin typeface="Arial"/>
              </a:defRPr>
            </a:pPr>
            <a:r>
              <a:t>Live Scanning Feed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Real-time terminal diagnostic logs rendered dynamically.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Typewriter text animations during active network audits.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Immediate visual transition from scan completion to AI classifier.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011680"/>
            <a:ext cx="3383280" cy="402336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0F2FE"/>
                </a:solidFill>
                <a:latin typeface="Arial"/>
              </a:defRPr>
            </a:pPr>
            <a:r>
              <a:t>Interactive Telemetry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Integrated Chart.js engines mapping scanner history trends.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Color-coded vulnerability ratios (Red, Orange, Blue, Green).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Clean pagination controls managing database audit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84E3"/>
                </a:solidFill>
                <a:latin typeface="Arial"/>
              </a:defRPr>
            </a:pPr>
            <a:r>
              <a:t>SECURESCAN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Arial"/>
              </a:defRPr>
            </a:pPr>
            <a:r>
              <a:t>Actionable Mitigations &amp; PDF Auditing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984E3"/>
          </a:solidFill>
          <a:ln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0F2FE"/>
                </a:solidFill>
                <a:latin typeface="Arial"/>
              </a:defRPr>
            </a:pPr>
            <a:r>
              <a:t>Programmatic Executive PDF Audits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ReportLab PDF Compiler:</a:t>
            </a:r>
          </a:p>
          <a:p>
            <a:pPr lvl="1">
              <a:spcAft>
                <a:spcPts val="7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Generates structured, production-grade vulnerability audit reports dynamically on target scan completion.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Professional Styling:</a:t>
            </a:r>
          </a:p>
          <a:p>
            <a:pPr lvl="1">
              <a:spcAft>
                <a:spcPts val="7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Features structured header tables, colored severity badges, customized grid columns, and dynamic page numbering.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Self-Contained Portability:</a:t>
            </a:r>
          </a:p>
          <a:p>
            <a:pPr lvl="1">
              <a:spcAft>
                <a:spcPts val="7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All generated PDFs are instantly downloadable and archived automatically inside safe local directory blocks.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420624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0F2FE"/>
                </a:solidFill>
                <a:latin typeface="Arial"/>
              </a:defRPr>
            </a:pPr>
            <a:r>
              <a:t>Targeted Defense &amp; Remediations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Automated Mapping Pipeline:</a:t>
            </a:r>
          </a:p>
          <a:p>
            <a:pPr lvl="1">
              <a:spcAft>
                <a:spcPts val="7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System maps open target network ports directly to optimized cybersecurity remediation checklists.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Concrete Configuration Rules:</a:t>
            </a:r>
          </a:p>
          <a:p>
            <a:pPr lvl="1">
              <a:spcAft>
                <a:spcPts val="7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Provides exact mitigation commands (e.g. disabling unauthenticated bindings, block rules, protocol upgrades).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Prioritized Defensive Task Lists:</a:t>
            </a:r>
          </a:p>
          <a:p>
            <a:pPr lvl="1">
              <a:spcAft>
                <a:spcPts val="7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Remediations are sorted automatically based on predicted severity scores, tackling high-impact risks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84E3"/>
                </a:solidFill>
                <a:latin typeface="Arial"/>
              </a:defRPr>
            </a:pPr>
            <a:r>
              <a:t>SECURESCAN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Arial"/>
              </a:defRPr>
            </a:pPr>
            <a:r>
              <a:t>Defensive Engineering &amp; Integrity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984E3"/>
          </a:solidFill>
          <a:ln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B2BEC3"/>
                </a:solidFill>
                <a:latin typeface="Arial"/>
              </a:defRPr>
            </a:pPr>
            <a:r>
              <a:t>Architectural principles implemented to secure the vulnerability management platform itself: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560320" cy="402336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0F2FE"/>
                </a:solidFill>
                <a:latin typeface="Arial"/>
              </a:defRPr>
            </a:pPr>
            <a:r>
              <a:t>Solid Input Sanitization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AGGRESSIVE sanitizations using target regex patterns.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Filters remote commands, avoiding parameter injections.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2011680"/>
            <a:ext cx="2560320" cy="402336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0F2FE"/>
                </a:solidFill>
                <a:latin typeface="Arial"/>
              </a:defRPr>
            </a:pPr>
            <a:r>
              <a:t>SQLi &amp; CSRF Shields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SQLAlchemy ORM blocks SQL injections.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CSRFProtect locks forms, blocking cross-site requests.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011680"/>
            <a:ext cx="2560320" cy="402336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0F2FE"/>
                </a:solidFill>
                <a:latin typeface="Arial"/>
              </a:defRPr>
            </a:pPr>
            <a:r>
              <a:t>Bcrypt Cryptography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User credentials salted and hashed using bcrypt libraries.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Secured session scopes with cryptographically signed tokens.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0" y="2011680"/>
            <a:ext cx="2560320" cy="402336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0F2FE"/>
                </a:solidFill>
                <a:latin typeface="Arial"/>
              </a:defRPr>
            </a:pPr>
            <a:r>
              <a:t>Isolated Executions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Containerized setups wrapping active scan environments.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Avoids local command line overrides during target probes.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84E3"/>
                </a:solidFill>
                <a:latin typeface="Arial"/>
              </a:defRPr>
            </a:pPr>
            <a:r>
              <a:t>SECURESCAN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Arial"/>
              </a:defRPr>
            </a:pPr>
            <a:r>
              <a:t>Technical Stack &amp; Deployments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984E3"/>
          </a:solidFill>
          <a:ln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984E3"/>
                </a:solidFill>
                <a:latin typeface="Arial"/>
              </a:defRPr>
            </a:pPr>
            <a:r>
              <a:t>The Engineering Architecture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Backend Infrastructure:</a:t>
            </a:r>
          </a:p>
          <a:p>
            <a:pPr lvl="1">
              <a:spcAft>
                <a:spcPts val="3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Python 3.13 &amp; Flask App Factory blueprints.</a:t>
            </a:r>
          </a:p>
          <a:p>
            <a:pPr lvl="1">
              <a:spcAft>
                <a:spcPts val="3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SQLite databases utilizing SQLAlchemy ORM schema maps.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Frontend Presentation Console:</a:t>
            </a:r>
          </a:p>
          <a:p>
            <a:pPr lvl="1">
              <a:spcAft>
                <a:spcPts val="3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HTML5, CSS3 Glassmorphism variables, Bootstrap 5.</a:t>
            </a:r>
          </a:p>
          <a:p>
            <a:pPr lvl="1">
              <a:spcAft>
                <a:spcPts val="3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Chart.js metrics engines and Typewriter JS animations.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AI/ML Diagnostic Pipeline:</a:t>
            </a:r>
          </a:p>
          <a:p>
            <a:pPr lvl="1">
              <a:spcAft>
                <a:spcPts val="3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Scikit-Learn (Random Forest Classifiers), Pandas, NumPy.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Reporting Systems:</a:t>
            </a:r>
          </a:p>
          <a:p>
            <a:pPr lvl="1">
              <a:spcAft>
                <a:spcPts val="3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ReportLab programmatic drawing compilers.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420624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0F2FE"/>
                </a:solidFill>
                <a:latin typeface="Arial"/>
              </a:defRPr>
            </a:pPr>
            <a:r>
              <a:t>Sandboxed Containerization &amp; Setup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Sandboxed Containerization &amp; Setup:</a:t>
            </a:r>
          </a:p>
          <a:p>
            <a:pPr lvl="1">
              <a:spcAft>
                <a:spcPts val="3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Custom Dockerfile wrapping Python runtimes, Scikit-learn pipelines, and Nmap OS binaries directly inside a safe sandbox.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Two-Step Quick Start:</a:t>
            </a:r>
          </a:p>
          <a:p>
            <a:pPr lvl="1">
              <a:spcAft>
                <a:spcPts val="3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1. Build container: docker build -t securescan:latest .</a:t>
            </a:r>
          </a:p>
          <a:p>
            <a:pPr lvl="1">
              <a:spcAft>
                <a:spcPts val="3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2. Deploy sandbox: docker run -d -p 5000:5000 --name securescan securescan:latest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	Resilient Local Backups:</a:t>
            </a:r>
          </a:p>
          <a:p>
            <a:pPr lvl="1">
              <a:spcAft>
                <a:spcPts val="300"/>
              </a:spcAft>
              <a:defRPr sz="1200">
                <a:solidFill>
                  <a:srgbClr val="B2BEC3"/>
                </a:solidFill>
                <a:latin typeface="Arial"/>
              </a:defRPr>
            </a:pPr>
            <a:r>
              <a:t>–	Runs seamlessly in network simulation mode on restricted corporate systems or offline development spaces.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84E3"/>
                </a:solidFill>
                <a:latin typeface="Arial"/>
              </a:defRPr>
            </a:pPr>
            <a:r>
              <a:t>SECURESCAN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Arial"/>
              </a:defRPr>
            </a:pPr>
            <a:r>
              <a:t>Future Roadmap &amp;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984E3"/>
          </a:solidFill>
          <a:ln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B2BEC3"/>
                </a:solidFill>
                <a:latin typeface="Arial"/>
              </a:defRPr>
            </a:pPr>
            <a:r>
              <a:t>Scaling SecureScan from a localized scanner into an enterprise security mesh: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402336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00F2FE"/>
                </a:solidFill>
                <a:latin typeface="Arial"/>
              </a:defRPr>
            </a:pPr>
            <a:r>
              <a:t>PHASE 01</a:t>
            </a:r>
          </a:p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Distributed Agents</a:t>
            </a:r>
          </a:p>
          <a:p>
            <a:pPr>
              <a:spcAft>
                <a:spcPts val="1200"/>
              </a:spcAft>
              <a:defRPr sz="1000">
                <a:solidFill>
                  <a:srgbClr val="0984E3"/>
                </a:solidFill>
                <a:latin typeface="Arial"/>
              </a:defRPr>
            </a:pPr>
            <a:r>
              <a:t>────────────</a:t>
            </a:r>
          </a:p>
          <a:p>
            <a:pPr>
              <a:spcAft>
                <a:spcPts val="600"/>
              </a:spcAft>
              <a:defRPr sz="1300">
                <a:solidFill>
                  <a:srgbClr val="B2BEC3"/>
                </a:solidFill>
                <a:latin typeface="Arial"/>
              </a:defRPr>
            </a:pPr>
            <a:r>
              <a:t>Deploy low-footprint scanning daemons across network segments. Centralize all diagnostics into the core Flask engine.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011680"/>
            <a:ext cx="3383280" cy="402336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00F2FE"/>
                </a:solidFill>
                <a:latin typeface="Arial"/>
              </a:defRPr>
            </a:pPr>
            <a:r>
              <a:t>PHASE 02</a:t>
            </a:r>
          </a:p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Live CVE Feeds</a:t>
            </a:r>
          </a:p>
          <a:p>
            <a:pPr>
              <a:spcAft>
                <a:spcPts val="1200"/>
              </a:spcAft>
              <a:defRPr sz="1000">
                <a:solidFill>
                  <a:srgbClr val="0984E3"/>
                </a:solidFill>
                <a:latin typeface="Arial"/>
              </a:defRPr>
            </a:pPr>
            <a:r>
              <a:t>────────────</a:t>
            </a:r>
          </a:p>
          <a:p>
            <a:pPr>
              <a:spcAft>
                <a:spcPts val="600"/>
              </a:spcAft>
              <a:defRPr sz="1300">
                <a:solidFill>
                  <a:srgbClr val="B2BEC3"/>
                </a:solidFill>
                <a:latin typeface="Arial"/>
              </a:defRPr>
            </a:pPr>
            <a:r>
              <a:t>Establish real-time API sync tunnels with the National Vulnerability Database (NVD) to fetch live CVSS scores daily.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011680"/>
            <a:ext cx="3383280" cy="4023360"/>
          </a:xfrm>
          <a:prstGeom prst="rect">
            <a:avLst/>
          </a:prstGeom>
          <a:solidFill>
            <a:srgbClr val="19233C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00F2FE"/>
                </a:solidFill>
                <a:latin typeface="Arial"/>
              </a:defRPr>
            </a:pPr>
            <a:r>
              <a:t>PHASE 03</a:t>
            </a:r>
          </a:p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Generative LLM Patching</a:t>
            </a:r>
          </a:p>
          <a:p>
            <a:pPr>
              <a:spcAft>
                <a:spcPts val="1200"/>
              </a:spcAft>
              <a:defRPr sz="1000">
                <a:solidFill>
                  <a:srgbClr val="0984E3"/>
                </a:solidFill>
                <a:latin typeface="Arial"/>
              </a:defRPr>
            </a:pPr>
            <a:r>
              <a:t>────────────</a:t>
            </a:r>
          </a:p>
          <a:p>
            <a:pPr>
              <a:spcAft>
                <a:spcPts val="600"/>
              </a:spcAft>
              <a:defRPr sz="1300">
                <a:solidFill>
                  <a:srgbClr val="B2BEC3"/>
                </a:solidFill>
                <a:latin typeface="Arial"/>
              </a:defRPr>
            </a:pPr>
            <a:r>
              <a:t>Integrate a sandboxed Local LLM to compile concrete source code patches for scanned application vulnerabilities.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